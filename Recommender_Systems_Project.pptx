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 ·  INDIVIDUAL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Movie Recommender Prototype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non-personalized baselines to matrix factorization on MovieLens 32M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5486400"/>
            <a:ext cx="2926080" cy="0"/>
          </a:xfrm>
          <a:prstGeom prst="line">
            <a:avLst/>
          </a:prstGeom>
          <a:noFill/>
          <a:ln w="19050">
            <a:solidFill>
              <a:srgbClr val="3361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669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Francesco Polimeni</a:t>
            </a:r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Esade  ·  Prof. Marc Torrens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approach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prototype, many algorithms, the same evaluation protocol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204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777240" cy="777240"/>
          </a:xfrm>
          <a:prstGeom prst="ellipse">
            <a:avLst/>
          </a:prstGeom>
          <a:solidFill>
            <a:srgbClr val="1C2A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becomes a working, reusable module in a single codebase.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5204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28800"/>
            <a:ext cx="777240" cy="777240"/>
          </a:xfrm>
          <a:prstGeom prst="ellipse">
            <a:avLst/>
          </a:prstGeom>
          <a:solidFill>
            <a:srgbClr val="1C2A3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share one dataset, split and metric set — results are directly comparable.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204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28800"/>
            <a:ext cx="777240" cy="777240"/>
          </a:xfrm>
          <a:prstGeom prst="ellipse">
            <a:avLst/>
          </a:prstGeom>
          <a:solidFill>
            <a:srgbClr val="1C2A3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28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210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critically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21040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not enough: we also measure coverage, novelty and popularity bias.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chosen: Movies — MovieLens 32M (genres as content metadata).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exploratory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32M · half-star ratings 0.5–5 · genre metadata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51760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200,948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651760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84,432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movies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651760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32.0M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98280" y="1508760"/>
            <a:ext cx="2651760" cy="1280160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6276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9828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300" dirty="0"/>
          </a:p>
        </p:txBody>
      </p:sp>
      <p:pic>
        <p:nvPicPr>
          <p:cNvPr id="16" name="Image 0" descr="fig/rating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017520"/>
            <a:ext cx="3657600" cy="2468880"/>
          </a:xfrm>
          <a:prstGeom prst="rect">
            <a:avLst/>
          </a:prstGeom>
        </p:spPr>
      </p:pic>
      <p:pic>
        <p:nvPicPr>
          <p:cNvPr id="17" name="Image 1" descr="fig/long_t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017520"/>
            <a:ext cx="4572000" cy="17373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052560" y="3017520"/>
            <a:ext cx="2743200" cy="2606040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23544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9235440" y="356616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skew positive (mean ≈ 3.5)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long tail: few blockbusters, many niche films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 sparse → cold cells everywhere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bias will shape results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evaluation protocol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for every model — fair comparison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catalog to 3,000 most-popular items + k-core (≥100 / ≥20 ratings)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Sub-sample 10,000 users → dense, fast, responsive prototype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set: ~1.34M ratings, cached to disk (float32 → fits free cloud)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TEMPORAL 80/20 split → no train-on-future leakage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Precision@10, Recall@10, Hit-Rate@10, NDCG@10, MRR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= held-out rating ≥ 4.0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Beyond-accuracy: catalog coverage &amp; novelty (self-information)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prediction: MAE / RMSE (item-item CF); k &amp; factors tuned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over a fixed user sample, identical for all models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implemented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models in code, from simple baselines to latent factors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201168" cy="201168"/>
          </a:xfrm>
          <a:prstGeom prst="ellipse">
            <a:avLst/>
          </a:prstGeom>
          <a:solidFill>
            <a:srgbClr val="1C2A3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007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Popular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items by interaction count. Non-personalized baseline.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783080"/>
            <a:ext cx="201168" cy="201168"/>
          </a:xfrm>
          <a:prstGeom prst="ellipse">
            <a:avLst/>
          </a:prstGeom>
          <a:solidFill>
            <a:srgbClr val="1C2A3A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7007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/ Bayesian avg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194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min-ratings cutoff vs. IMDb damped mean (course formula).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783080"/>
            <a:ext cx="201168" cy="201168"/>
          </a:xfrm>
          <a:prstGeom prst="ellipse">
            <a:avLst/>
          </a:prstGeom>
          <a:solidFill>
            <a:srgbClr val="6B7480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7007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2194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Lower-bound sanity check / coverage ceiling.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98280" y="15544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1783080"/>
            <a:ext cx="201168" cy="201168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18" name="Text 16"/>
          <p:cNvSpPr/>
          <p:nvPr/>
        </p:nvSpPr>
        <p:spPr>
          <a:xfrm>
            <a:off x="9646920" y="17007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26880" y="21945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&amp; raw-genre vectors; mean-centered profile; cosine.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703320"/>
            <a:ext cx="201168" cy="201168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6210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Item–Item CF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4114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Adjusted-cosine item similarity, top-k=10 neighbourhood.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37560" y="3474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3703320"/>
            <a:ext cx="201168" cy="201168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36210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User–User CF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566160" y="4114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Mean-centered user similarity, top-k=40 neighbours.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474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3703320"/>
            <a:ext cx="201168" cy="201168"/>
          </a:xfrm>
          <a:prstGeom prst="ellipse">
            <a:avLst/>
          </a:prstGeom>
          <a:solidFill>
            <a:srgbClr val="33617E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36210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Factorization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6520" y="41148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SVD (sklearn): R≈U·Vᵀ, dot-product scores, argsort.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098280" y="3474720"/>
            <a:ext cx="2606040" cy="1737360"/>
          </a:xfrm>
          <a:prstGeom prst="rect">
            <a:avLst/>
          </a:prstGeom>
          <a:solidFill>
            <a:srgbClr val="1C2A3A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share one interface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81160" y="40690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 then recommend(user, n). Methods are hot-swappable in the pipeline and the UI.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accuracy vs. beyond-accuracy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· temporal split (leakage-free) · 10k users · 95% CI on NDCG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82296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960120"/>
                <a:gridCol w="960120"/>
                <a:gridCol w="1005840"/>
                <a:gridCol w="914400"/>
                <a:gridCol w="109728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Factorization (SVD)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61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Popular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Average (IMDb)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Item–Item CF (k=10)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Average (min 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User–User CF (k=40)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F7A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Content-based (TF-IDF)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Content-based (raw)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961120" y="1600200"/>
            <a:ext cx="2743200" cy="3520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it this way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0" y="214884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leads significantly — its CI does not overlap popularity's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split: no train/test leakage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(IMDb) avg beats the hard-threshold average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covers 41–50% of the catalog; content-based is the most novel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accuracy–discovery trade-off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models, two very different rankings</a:t>
            </a:r>
            <a:endParaRPr lang="en-US" sz="1300" dirty="0"/>
          </a:p>
        </p:txBody>
      </p:sp>
      <p:pic>
        <p:nvPicPr>
          <p:cNvPr id="4" name="Image 0" descr="fig/metric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1124712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examples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(id 124204), top-5 by method — the personality of each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28216"/>
            <a:ext cx="182880" cy="182880"/>
          </a:xfrm>
          <a:prstGeom prst="ellipse">
            <a:avLst/>
          </a:prstGeom>
          <a:solidFill>
            <a:srgbClr val="1C2A3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Popular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554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Jurassic Park · Raiders of the Lost Ark · The Usual Suspects · The Dark Knight · Inception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304288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69464"/>
            <a:ext cx="182880" cy="182880"/>
          </a:xfrm>
          <a:prstGeom prst="ellipse">
            <a:avLst/>
          </a:prstGeom>
          <a:solidFill>
            <a:srgbClr val="1C2A3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957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Avg (IMDb)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3957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Suspects · Dr. Strangelove · Spirited Away · 12 Angry Men · Casablanca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410712"/>
            <a:ext cx="182880" cy="182880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2369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(genres)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2369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Lear · I Fidanzati · Il Posto · Deepwater Horizon · Queen of Katwe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251960"/>
            <a:ext cx="182880" cy="182880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0782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Item–Item CF (k=10)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40782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Earth II · Lawrence of Arabia · Capturing the Friedmans · The King's Speech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828032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093208"/>
            <a:ext cx="182880" cy="182880"/>
          </a:xfrm>
          <a:prstGeom prst="ellipse">
            <a:avLst/>
          </a:prstGeom>
          <a:solidFill>
            <a:srgbClr val="33617E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9194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Factorization (SVD)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4919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Memento · The Usual Suspects · Raiders of the Lost Ark · The Green Mile · Monsters, Inc.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/ Bayesian = mainstream &amp; acclaimed · Content = genre-coherent but obscure · CF &amp; SVD = strongly personalized picks.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prototype (UX)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onboard a new user or explore an existing 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7498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7498080" cy="320040"/>
          </a:xfrm>
          <a:prstGeom prst="rect">
            <a:avLst/>
          </a:prstGeom>
          <a:solidFill>
            <a:srgbClr val="EDEFF5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609344"/>
            <a:ext cx="118872" cy="118872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09344"/>
            <a:ext cx="118872" cy="118872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1609344"/>
            <a:ext cx="118872" cy="118872"/>
          </a:xfrm>
          <a:prstGeom prst="ellipse">
            <a:avLst/>
          </a:prstGeom>
          <a:solidFill>
            <a:srgbClr val="2C9C7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54533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783080" cy="3429000"/>
          </a:xfrm>
          <a:prstGeom prst="roundRect">
            <a:avLst>
              <a:gd name="adj" fmla="val 2564"/>
            </a:avLst>
          </a:prstGeom>
          <a:solidFill>
            <a:srgbClr val="1C2A3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075688"/>
            <a:ext cx="15087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Recommender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DD6E0"/>
                </a:solidFill>
              </a:rPr>
              <a:t>User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61456  ▾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DD6E0"/>
                </a:solidFill>
              </a:rPr>
              <a:t>Recommendations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</a:rPr>
              <a:t>●━━━━━ 10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CDD6E0"/>
                </a:solidFill>
              </a:rPr>
              <a:t>Algorithms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☑ Most Popular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☑ Content-based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☑ Item–Item CF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</a:rPr>
              <a:t>☑ Matrix Factor.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2020824"/>
            <a:ext cx="146304" cy="146304"/>
          </a:xfrm>
          <a:prstGeom prst="ellipse">
            <a:avLst/>
          </a:prstGeom>
          <a:solidFill>
            <a:srgbClr val="1C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2715768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2350008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Forrest Gump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24328" y="26791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Comedy · Drama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14600" y="3063240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31363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Pulp Fiction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24328" y="33924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· Drama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14600" y="3776472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38496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Star Wars IV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24328" y="41056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· Sci-Fi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14600" y="4489704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4562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Matrix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24328" y="481888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· Sci-Fi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15968" y="2020824"/>
            <a:ext cx="146304" cy="146304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27" name="Text 25"/>
          <p:cNvSpPr/>
          <p:nvPr/>
        </p:nvSpPr>
        <p:spPr>
          <a:xfrm>
            <a:off x="4517136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5968" y="2350008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25696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Bigfoot Lives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25696" y="26791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15968" y="3063240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25696" y="31363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Kon-Tiki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25696" y="33924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· History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15968" y="3776472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25696" y="38496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Fatal Game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25696" y="41056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· Adventure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15968" y="4489704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5696" y="4562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Gandhada Gudi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25696" y="481888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117336" y="2020824"/>
            <a:ext cx="146304" cy="146304"/>
          </a:xfrm>
          <a:prstGeom prst="ellipse">
            <a:avLst/>
          </a:prstGeom>
          <a:solidFill>
            <a:srgbClr val="33617E"/>
          </a:solidFill>
          <a:ln/>
        </p:spPr>
      </p:sp>
      <p:sp>
        <p:nvSpPr>
          <p:cNvPr id="41" name="Text 39"/>
          <p:cNvSpPr/>
          <p:nvPr/>
        </p:nvSpPr>
        <p:spPr>
          <a:xfrm>
            <a:off x="6318504" y="19659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Factor.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17336" y="2350008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24231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Planet Earth II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27064" y="26791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17336" y="3063240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27064" y="31363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Persuasion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27064" y="339242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· Romance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117336" y="3776472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27064" y="384962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Nausicaä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27064" y="41056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· Fantasy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17336" y="4489704"/>
            <a:ext cx="1691640" cy="603504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27064" y="4562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Memento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27064" y="481888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· Thriller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183880" y="1508760"/>
            <a:ext cx="3520440" cy="3977640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124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demo offers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12480" y="2194560"/>
            <a:ext cx="146304" cy="146304"/>
          </a:xfrm>
          <a:prstGeom prst="ellipse">
            <a:avLst/>
          </a:prstGeom>
          <a:solidFill>
            <a:srgbClr val="33617E"/>
          </a:solidFill>
          <a:ln/>
        </p:spPr>
      </p:sp>
      <p:sp>
        <p:nvSpPr>
          <p:cNvPr id="57" name="Text 55"/>
          <p:cNvSpPr/>
          <p:nvPr/>
        </p:nvSpPr>
        <p:spPr>
          <a:xfrm>
            <a:off x="864108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New-user questionnaire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641080" y="24140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onboarding: a few questions build a taste profile and recommend films — no ratings needed.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412480" y="2999232"/>
            <a:ext cx="146304" cy="146304"/>
          </a:xfrm>
          <a:prstGeom prst="ellipse">
            <a:avLst/>
          </a:prstGeom>
          <a:solidFill>
            <a:srgbClr val="33617E"/>
          </a:solidFill>
          <a:ln/>
        </p:spPr>
      </p:sp>
      <p:sp>
        <p:nvSpPr>
          <p:cNvPr id="60" name="Text 58"/>
          <p:cNvSpPr/>
          <p:nvPr/>
        </p:nvSpPr>
        <p:spPr>
          <a:xfrm>
            <a:off x="864108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8641080" y="3218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each algorithm recommends for the same user — the trade-off made tangible.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412480" y="3803904"/>
            <a:ext cx="146304" cy="146304"/>
          </a:xfrm>
          <a:prstGeom prst="ellipse">
            <a:avLst/>
          </a:prstGeom>
          <a:solidFill>
            <a:srgbClr val="33617E"/>
          </a:solidFill>
          <a:ln/>
        </p:spPr>
      </p:sp>
      <p:sp>
        <p:nvSpPr>
          <p:cNvPr id="63" name="Text 61"/>
          <p:cNvSpPr/>
          <p:nvPr/>
        </p:nvSpPr>
        <p:spPr>
          <a:xfrm>
            <a:off x="8641080" y="3758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Taste profile + "more like this"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8641080" y="4023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movies, favourite-genre chart, and content-based similar-movie search.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412480" y="4608576"/>
            <a:ext cx="146304" cy="146304"/>
          </a:xfrm>
          <a:prstGeom prst="ellipse">
            <a:avLst/>
          </a:prstGeom>
          <a:solidFill>
            <a:srgbClr val="33617E"/>
          </a:solidFill>
          <a:ln/>
        </p:spPr>
      </p:sp>
      <p:sp>
        <p:nvSpPr>
          <p:cNvPr id="66" name="Text 64"/>
          <p:cNvSpPr/>
          <p:nvPr/>
        </p:nvSpPr>
        <p:spPr>
          <a:xfrm>
            <a:off x="8641080" y="45628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&amp; cached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8641080" y="4828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 once; switching user, method or answers is instant.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hard, and how it was solved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6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speed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21284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ratings (877 MB) made naive CF/MF infeasible. Solved with compact dtypes, item-cap + k-core filtering, user sub-sampling and vectorized, cached NumPy scoring.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577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37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6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Course-aligned MF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21284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the course method: sklearn TruncatedSVD on the sparse matrix, dot-product scores, argsort top-N — no fragile native dependencies.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577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6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evaluation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17880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users break personalized models. A per-user split guarantees overlap; identical user sample &amp; relevance rule for all models.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520440"/>
            <a:ext cx="55778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703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6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accuracy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4178808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hides popularity bias. Added coverage &amp; novelty to expose the trade-off.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Strengthening the evaluation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issues identified during review, and how each was addressed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093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leaked the future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11880" y="1773936"/>
            <a:ext cx="219456" cy="219456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7" name="Text 5"/>
          <p:cNvSpPr/>
          <p:nvPr/>
        </p:nvSpPr>
        <p:spPr>
          <a:xfrm>
            <a:off x="3611880" y="173736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60934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→ NDCG ≈0.33 → ≈0.14 (realistic)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22576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 estimate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11880" y="2542032"/>
            <a:ext cx="219456" cy="219456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054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→ SVD's lead is significant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455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bias was hidden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11880" y="3310128"/>
            <a:ext cx="219456" cy="219456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3273552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314553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analysis → SVD ~1% tail vs 49% item-CF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136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support for brand-new users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11880" y="4078224"/>
            <a:ext cx="219456" cy="219456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4041648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39136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onboarding → cold-start solved in the app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26864"/>
            <a:ext cx="6492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681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imputes missing ratings as 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11880" y="4846320"/>
            <a:ext cx="219456" cy="219456"/>
          </a:xfrm>
          <a:prstGeom prst="ellipse">
            <a:avLst/>
          </a:prstGeom>
          <a:solidFill>
            <a:srgbClr val="3F7A66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4809744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4681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a known explicit-feedback trade-off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1554480"/>
            <a:ext cx="4480560" cy="3822192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1691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recommends beyond the popular head?</a:t>
            </a:r>
            <a:endParaRPr lang="en-US" sz="1350" dirty="0"/>
          </a:p>
        </p:txBody>
      </p:sp>
      <p:pic>
        <p:nvPicPr>
          <p:cNvPr id="31" name="Image 0" descr="fig/popularity_b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240280"/>
            <a:ext cx="4206240" cy="24231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406640" y="47091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share of each model's top-10. The SVD "winner" stays on the head; CF and content-based reach the tail.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to validity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75488" y="95097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do — and don't — show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931920"/>
          </a:xfrm>
          <a:prstGeom prst="rect">
            <a:avLst/>
          </a:prstGeom>
          <a:solidFill>
            <a:srgbClr val="F4F5F7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6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to validity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Leakage: fixed with a temporal split (SVD NDCG ≈0.33→≈0.14)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 95% CIs reported — top ranking is real, not noise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bias: SVD puts only ~1% of recs in the long tail (vs 49% item-CF)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popular subset → optimistic; not vs. published benchmarks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imputes missing = 0; no true cold-start eval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content features (tags, cast, synopsis), not just genres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blend SVD accuracy with content/CF novelty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diversity &amp; popularity-debiasing in the ranking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 cold-start (new user / new item) evaluation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6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Streamlit demo online (already built — see UX slide)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 — Individual 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41248" y="1371600"/>
            <a:ext cx="2743200" cy="0"/>
          </a:xfrm>
          <a:prstGeom prst="line">
            <a:avLst/>
          </a:prstGeom>
          <a:noFill/>
          <a:ln w="19050">
            <a:solidFill>
              <a:srgbClr val="3361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6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8562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best model.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22585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choice depends on the objective — engagement, discovery or coverage.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6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9992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not the whole story.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34015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accurate model (popularity / SVD) is also the most popularity-biased.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61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41422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adds value.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45445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 and CF surface relevant items a popularity list would miss.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  Live demo: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movierec-fp.streamlit.app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Recommender Systems — Individual Project</dc:title>
  <dc:subject>PptxGenJS Presentation</dc:subject>
  <dc:creator>Francesco Polimeni</dc:creator>
  <cp:lastModifiedBy>Francesco Polimeni</cp:lastModifiedBy>
  <cp:revision>1</cp:revision>
  <dcterms:created xsi:type="dcterms:W3CDTF">2026-06-30T20:59:22Z</dcterms:created>
  <dcterms:modified xsi:type="dcterms:W3CDTF">2026-06-30T20:59:22Z</dcterms:modified>
</cp:coreProperties>
</file>