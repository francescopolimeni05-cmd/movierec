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943600" cy="5943600"/>
          </a:xfrm>
          <a:prstGeom prst="ellipse">
            <a:avLst/>
          </a:prstGeom>
          <a:solidFill>
            <a:srgbClr val="21294D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3291840"/>
            <a:ext cx="4206240" cy="4206240"/>
          </a:xfrm>
          <a:prstGeom prst="ellipse">
            <a:avLst/>
          </a:prstGeom>
          <a:solidFill>
            <a:srgbClr val="2A356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96596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RECOMMENDER SYSTEMS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423160"/>
            <a:ext cx="9326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Movie Recommender Prototype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40080" y="38862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Project · From baselines to matrix factorization on MovieLens 32M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Francesco Polimeni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Esade · Prof. Marc Torrens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&amp; approach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32688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prototype, many algorithms, the same evaluation protocol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82880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31520" y="2788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31520" y="32918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technique becomes a working, reusable module in a single codebase.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51960" y="155448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82880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4526280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526280" y="2788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526280" y="32918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share one dataset, split and metric set — results are directly comparable.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46720" y="155448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21040" y="182880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321040" y="2788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 critically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321040" y="32918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is not enough: we also measure coverage, novelty and popularity bias.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5212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chosen: Movies — MovieLens 32M (genres as content metadata).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Recommender Systems · Individual Project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&amp; exploratory analysis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32688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MovieLens 32M · half-star ratings 0.5–5 · genre metadata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4F6FB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62763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200,948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37560" y="150876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4F6FB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37560" y="162763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84,432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337560" y="22860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rated movies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0876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4F6FB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162763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32.0M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217920" y="22860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98280" y="150876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4F6FB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98280" y="162763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99.8%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098280" y="22860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sparsity</a:t>
            </a:r>
            <a:endParaRPr lang="en-US" sz="1300" dirty="0"/>
          </a:p>
        </p:txBody>
      </p:sp>
      <p:pic>
        <p:nvPicPr>
          <p:cNvPr id="16" name="Image 0" descr="fig/rating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017520"/>
            <a:ext cx="3657600" cy="2468880"/>
          </a:xfrm>
          <a:prstGeom prst="rect">
            <a:avLst/>
          </a:prstGeom>
        </p:spPr>
      </p:pic>
      <p:pic>
        <p:nvPicPr>
          <p:cNvPr id="17" name="Image 1" descr="fig/long_t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3017520"/>
            <a:ext cx="4572000" cy="173736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9052560" y="3017520"/>
            <a:ext cx="2743200" cy="2606040"/>
          </a:xfrm>
          <a:prstGeom prst="roundRect">
            <a:avLst>
              <a:gd name="adj" fmla="val 2807"/>
            </a:avLst>
          </a:prstGeom>
          <a:solidFill>
            <a:srgbClr val="F4F6FB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9235440" y="3154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data tells us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9235440" y="3566160"/>
            <a:ext cx="2468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skew positive (mean ≈ 3.5)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long tail: few blockbusters, many niche films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99.8% sparse → cold cells everywhere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Popularity bias will shape results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Recommender Systems · Individual Project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 &amp; evaluation protocol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32688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pipeline for every model — fair comparison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catalog to 2,000 most-popular items + k-core (≥100 / ≥20 ratings)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Sub-sample 10,000 users → dense, fast, responsive prototype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set: ~1.34M ratings, cached to disk (float32 → fits free cloud)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TEMPORAL 80/20 split → no train-on-future leakage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55448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92240" y="21945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Accuracy: Precision@10, Recall@10, Hit-Rate@10, NDCG@10, MRR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= held-out rating ≥ 4.0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Beyond-accuracy: catalog coverage &amp; novelty (self-information)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prediction: MAE / RMSE (item-item CF); k &amp; factors tuned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Averaged over a fixed user sample, identical for all models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Recommender Systems · Individual Project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Algorithms implemented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32688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models in code, from simple baselines to latent factors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201168" cy="2011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70078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Popular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items by interaction count. Non-personalized baseline.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37560" y="15544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66160" y="1783080"/>
            <a:ext cx="201168" cy="2011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3886200" y="170078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Highest / Bayesian avg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66160" y="21945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min-ratings cutoff vs. IMDb damped mean (course formula).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46520" y="1783080"/>
            <a:ext cx="201168" cy="201168"/>
          </a:xfrm>
          <a:prstGeom prst="ellipse">
            <a:avLst/>
          </a:prstGeom>
          <a:solidFill>
            <a:srgbClr val="5B6586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0" y="170078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46520" y="21945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Lower-bound sanity check / coverage ceiling.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98280" y="15544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326880" y="1783080"/>
            <a:ext cx="201168" cy="201168"/>
          </a:xfrm>
          <a:prstGeom prst="ellipse">
            <a:avLst/>
          </a:prstGeom>
          <a:solidFill>
            <a:srgbClr val="2C9C7F"/>
          </a:solidFill>
          <a:ln/>
        </p:spPr>
      </p:sp>
      <p:sp>
        <p:nvSpPr>
          <p:cNvPr id="18" name="Text 16"/>
          <p:cNvSpPr/>
          <p:nvPr/>
        </p:nvSpPr>
        <p:spPr>
          <a:xfrm>
            <a:off x="9646920" y="170078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Content-based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326880" y="21945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&amp; raw-genre vectors; mean-centered profile; cosine.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5800" y="3703320"/>
            <a:ext cx="201168" cy="201168"/>
          </a:xfrm>
          <a:prstGeom prst="ellipse">
            <a:avLst/>
          </a:prstGeom>
          <a:solidFill>
            <a:srgbClr val="2C9C7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362102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Item–Item CF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5800" y="41148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Adjusted-cosine item similarity, top-k=10 neighbourhood.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337560" y="34747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566160" y="3703320"/>
            <a:ext cx="201168" cy="201168"/>
          </a:xfrm>
          <a:prstGeom prst="ellipse">
            <a:avLst/>
          </a:prstGeom>
          <a:solidFill>
            <a:srgbClr val="2C9C7F"/>
          </a:solidFill>
          <a:ln/>
        </p:spPr>
      </p:sp>
      <p:sp>
        <p:nvSpPr>
          <p:cNvPr id="26" name="Text 24"/>
          <p:cNvSpPr/>
          <p:nvPr/>
        </p:nvSpPr>
        <p:spPr>
          <a:xfrm>
            <a:off x="3886200" y="362102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User–User CF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566160" y="41148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Mean-centered user similarity, top-k=40 neighbours.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17920" y="34747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46520" y="3703320"/>
            <a:ext cx="201168" cy="20116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0" name="Text 28"/>
          <p:cNvSpPr/>
          <p:nvPr/>
        </p:nvSpPr>
        <p:spPr>
          <a:xfrm>
            <a:off x="6766560" y="362102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Matrix Factorization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446520" y="41148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Truncated SVD (sklearn): R≈U·Vᵀ, dot-product scores, argsort.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9098280" y="347472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1E2761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281160" y="3611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share one interface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281160" y="40690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fit() then recommend(user, n). Methods are hot-swappable in the pipeline and the UI.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Recommender Systems · Individual Project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— accuracy vs. beyond-accuracy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32688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 · temporal split (leakage-free) · 10k users · 95% CI on NDCG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36192"/>
          <a:ext cx="82296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960120"/>
                <a:gridCol w="960120"/>
                <a:gridCol w="1005840"/>
                <a:gridCol w="914400"/>
                <a:gridCol w="1097280"/>
                <a:gridCol w="960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Prec@10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Rec@10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NDCG@10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±CI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Novelty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Matrix Factorization (SVD)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Popular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Bayesian Average (IMDb)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Item–Item CF (k=10)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Average (min 20)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User–User CF (k=40)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C9C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Content-based (TF-IDF)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Content-based (raw)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9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961120" y="1600200"/>
            <a:ext cx="2743200" cy="3520440"/>
          </a:xfrm>
          <a:prstGeom prst="roundRect">
            <a:avLst>
              <a:gd name="adj" fmla="val 2667"/>
            </a:avLst>
          </a:prstGeom>
          <a:solidFill>
            <a:srgbClr val="F4F6FB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144000" y="17373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it this way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144000" y="214884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wins significantly (CIs don't overlap with popularity)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are honest: temporal split, no leakage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(IMDb) avg beats the hard-threshold average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 covers 41–50% of the catalog; content-based is the most novel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Recommender Systems · Individual Project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accuracy–discovery trade-off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32688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models, two very different rankings</a:t>
            </a:r>
            <a:endParaRPr lang="en-US" sz="1400" dirty="0"/>
          </a:p>
        </p:txBody>
      </p:sp>
      <p:pic>
        <p:nvPicPr>
          <p:cNvPr id="4" name="Image 0" descr="fig/metric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11247120" cy="4297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Recommender Systems · Individual Project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 examples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32688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user (id 124204), top-5 by method — the personality of each model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28216"/>
            <a:ext cx="182880" cy="1828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Popular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931920" y="155448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Jurassic Park · Raiders of the Lost Ark · The Usual Suspects · The Dark Knight · Inception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304288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85800" y="2569464"/>
            <a:ext cx="182880" cy="1828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39572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Bayesian Avg (IMDb)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931920" y="239572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Usual Suspects · Dr. Strangelove · Spirited Away · 12 Angry Men · Casablanca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45536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85800" y="3410712"/>
            <a:ext cx="182880" cy="182880"/>
          </a:xfrm>
          <a:prstGeom prst="ellipse">
            <a:avLst/>
          </a:prstGeom>
          <a:solidFill>
            <a:srgbClr val="2C9C7F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23697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Content-based (genres)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931920" y="3236976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 Lear · I Fidanzati · Il Posto · Deepwater Horizon · Queen of Katwe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986784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5800" y="4251960"/>
            <a:ext cx="182880" cy="182880"/>
          </a:xfrm>
          <a:prstGeom prst="ellipse">
            <a:avLst/>
          </a:prstGeom>
          <a:solidFill>
            <a:srgbClr val="2C9C7F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407822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Item–Item CF (k=10)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31920" y="4078224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 Earth II · Lawrence of Arabia · Capturing the Friedmans · The King's Speech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4828032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5800" y="5093208"/>
            <a:ext cx="182880" cy="18288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491947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Matrix Factorization (SVD)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931920" y="4919472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Memento · The Usual Suspects · Raiders of the Lost Ark · The Green Mile · Monsters, Inc.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Popularity / Bayesian = mainstream &amp; acclaimed · Content = genre-coherent but obscure · CF &amp; SVD = strongly personalized picks.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Recommender Systems · Individual Project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Interactive prototype (UX)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32688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app — onboard a new user or explore an existing one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749808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7498080" cy="320040"/>
          </a:xfrm>
          <a:prstGeom prst="rect">
            <a:avLst/>
          </a:prstGeom>
          <a:solidFill>
            <a:srgbClr val="EDEFF5"/>
          </a:solidFill>
          <a:ln/>
        </p:spPr>
      </p:sp>
      <p:sp>
        <p:nvSpPr>
          <p:cNvPr id="6" name="Shape 4"/>
          <p:cNvSpPr/>
          <p:nvPr/>
        </p:nvSpPr>
        <p:spPr>
          <a:xfrm>
            <a:off x="621792" y="1609344"/>
            <a:ext cx="118872" cy="118872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1609344"/>
            <a:ext cx="118872" cy="118872"/>
          </a:xfrm>
          <a:prstGeom prst="ellipse">
            <a:avLst/>
          </a:prstGeom>
          <a:solidFill>
            <a:srgbClr val="E0A458"/>
          </a:solidFill>
          <a:ln/>
        </p:spPr>
      </p:sp>
      <p:sp>
        <p:nvSpPr>
          <p:cNvPr id="8" name="Shape 6"/>
          <p:cNvSpPr/>
          <p:nvPr/>
        </p:nvSpPr>
        <p:spPr>
          <a:xfrm>
            <a:off x="1024128" y="1609344"/>
            <a:ext cx="118872" cy="118872"/>
          </a:xfrm>
          <a:prstGeom prst="ellipse">
            <a:avLst/>
          </a:prstGeom>
          <a:solidFill>
            <a:srgbClr val="2C9C7F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1545336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run app.py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1938528"/>
            <a:ext cx="1783080" cy="3429000"/>
          </a:xfrm>
          <a:prstGeom prst="roundRect">
            <a:avLst>
              <a:gd name="adj" fmla="val 2564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2075688"/>
            <a:ext cx="1508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Recommender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</a:rPr>
              <a:t>User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61456  ▾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</a:rPr>
              <a:t>Recommendations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●━━━━━ 10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</a:rPr>
              <a:t>Algorithms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</a:rPr>
              <a:t>☑ Most Popular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</a:rPr>
              <a:t>☑ Content-based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</a:rPr>
              <a:t>☑ Item–Item CF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</a:rPr>
              <a:t>☑ Matrix Factor.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514600" y="2020824"/>
            <a:ext cx="146304" cy="1463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715768" y="19659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Popular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514600" y="2350008"/>
            <a:ext cx="1691640" cy="603504"/>
          </a:xfrm>
          <a:prstGeom prst="roundRect">
            <a:avLst>
              <a:gd name="adj" fmla="val 12121"/>
            </a:avLst>
          </a:prstGeom>
          <a:solidFill>
            <a:srgbClr val="F4F6FB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624328" y="24231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Forrest Gump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24328" y="2679192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 · Comedy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514600" y="3063240"/>
            <a:ext cx="1691640" cy="603504"/>
          </a:xfrm>
          <a:prstGeom prst="roundRect">
            <a:avLst>
              <a:gd name="adj" fmla="val 12121"/>
            </a:avLst>
          </a:prstGeom>
          <a:solidFill>
            <a:srgbClr val="F4F6FB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624328" y="313639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Pulp Fiction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24328" y="3392424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 · Comedy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514600" y="3776472"/>
            <a:ext cx="1691640" cy="603504"/>
          </a:xfrm>
          <a:prstGeom prst="roundRect">
            <a:avLst>
              <a:gd name="adj" fmla="val 12121"/>
            </a:avLst>
          </a:prstGeom>
          <a:solidFill>
            <a:srgbClr val="F4F6FB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624328" y="384962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Star Wars IV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24328" y="4105656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 · Comedy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514600" y="4489704"/>
            <a:ext cx="1691640" cy="603504"/>
          </a:xfrm>
          <a:prstGeom prst="roundRect">
            <a:avLst>
              <a:gd name="adj" fmla="val 12121"/>
            </a:avLst>
          </a:prstGeom>
          <a:solidFill>
            <a:srgbClr val="F4F6FB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624328" y="4562856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The Matrix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624328" y="4818888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 · Comedy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315968" y="2020824"/>
            <a:ext cx="146304" cy="146304"/>
          </a:xfrm>
          <a:prstGeom prst="ellipse">
            <a:avLst/>
          </a:prstGeom>
          <a:solidFill>
            <a:srgbClr val="2C9C7F"/>
          </a:solidFill>
          <a:ln/>
        </p:spPr>
      </p:sp>
      <p:sp>
        <p:nvSpPr>
          <p:cNvPr id="27" name="Text 25"/>
          <p:cNvSpPr/>
          <p:nvPr/>
        </p:nvSpPr>
        <p:spPr>
          <a:xfrm>
            <a:off x="4517136" y="19659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Content-based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315968" y="2350008"/>
            <a:ext cx="1691640" cy="603504"/>
          </a:xfrm>
          <a:prstGeom prst="roundRect">
            <a:avLst>
              <a:gd name="adj" fmla="val 12121"/>
            </a:avLst>
          </a:prstGeom>
          <a:solidFill>
            <a:srgbClr val="F4F6FB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425696" y="24231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Bigfoot Lives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425696" y="2679192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 · Comedy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315968" y="3063240"/>
            <a:ext cx="1691640" cy="603504"/>
          </a:xfrm>
          <a:prstGeom prst="roundRect">
            <a:avLst>
              <a:gd name="adj" fmla="val 12121"/>
            </a:avLst>
          </a:prstGeom>
          <a:solidFill>
            <a:srgbClr val="F4F6FB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425696" y="313639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Kon-Tiki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25696" y="3392424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 · Comedy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315968" y="3776472"/>
            <a:ext cx="1691640" cy="603504"/>
          </a:xfrm>
          <a:prstGeom prst="roundRect">
            <a:avLst>
              <a:gd name="adj" fmla="val 12121"/>
            </a:avLst>
          </a:prstGeom>
          <a:solidFill>
            <a:srgbClr val="F4F6FB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425696" y="384962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The Fatal Game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425696" y="4105656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 · Comedy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315968" y="4489704"/>
            <a:ext cx="1691640" cy="603504"/>
          </a:xfrm>
          <a:prstGeom prst="roundRect">
            <a:avLst>
              <a:gd name="adj" fmla="val 12121"/>
            </a:avLst>
          </a:prstGeom>
          <a:solidFill>
            <a:srgbClr val="F4F6FB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4425696" y="4562856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Gandhada Gudi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425696" y="4818888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 · Comedy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117336" y="2020824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1" name="Text 39"/>
          <p:cNvSpPr/>
          <p:nvPr/>
        </p:nvSpPr>
        <p:spPr>
          <a:xfrm>
            <a:off x="6318504" y="19659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Matrix Factor.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117336" y="2350008"/>
            <a:ext cx="1691640" cy="603504"/>
          </a:xfrm>
          <a:prstGeom prst="roundRect">
            <a:avLst>
              <a:gd name="adj" fmla="val 12121"/>
            </a:avLst>
          </a:prstGeom>
          <a:solidFill>
            <a:srgbClr val="F4F6FB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6227064" y="24231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Planet Earth II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227064" y="2679192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 · Comedy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117336" y="3063240"/>
            <a:ext cx="1691640" cy="603504"/>
          </a:xfrm>
          <a:prstGeom prst="roundRect">
            <a:avLst>
              <a:gd name="adj" fmla="val 12121"/>
            </a:avLst>
          </a:prstGeom>
          <a:solidFill>
            <a:srgbClr val="F4F6FB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6227064" y="313639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Planet Earth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227064" y="3392424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 · Comedy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117336" y="3776472"/>
            <a:ext cx="1691640" cy="603504"/>
          </a:xfrm>
          <a:prstGeom prst="roundRect">
            <a:avLst>
              <a:gd name="adj" fmla="val 12121"/>
            </a:avLst>
          </a:prstGeom>
          <a:solidFill>
            <a:srgbClr val="F4F6FB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6227064" y="384962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Persuasion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227064" y="4105656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 · Comedy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6117336" y="4489704"/>
            <a:ext cx="1691640" cy="603504"/>
          </a:xfrm>
          <a:prstGeom prst="roundRect">
            <a:avLst>
              <a:gd name="adj" fmla="val 12121"/>
            </a:avLst>
          </a:prstGeom>
          <a:solidFill>
            <a:srgbClr val="F4F6FB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6227064" y="4562856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Nausicaä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227064" y="4818888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 · Comedy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8183880" y="1508760"/>
            <a:ext cx="3520440" cy="3977640"/>
          </a:xfrm>
          <a:prstGeom prst="roundRect">
            <a:avLst>
              <a:gd name="adj" fmla="val 2078"/>
            </a:avLst>
          </a:prstGeom>
          <a:solidFill>
            <a:srgbClr val="F4F6FB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8412480" y="1691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demo offers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8412480" y="2194560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7" name="Text 55"/>
          <p:cNvSpPr/>
          <p:nvPr/>
        </p:nvSpPr>
        <p:spPr>
          <a:xfrm>
            <a:off x="8641080" y="2148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New-user questionnaire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8641080" y="241401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onboarding: a few questions build a taste profile and recommend films — no ratings needed.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8412480" y="2999232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60" name="Text 58"/>
          <p:cNvSpPr/>
          <p:nvPr/>
        </p:nvSpPr>
        <p:spPr>
          <a:xfrm>
            <a:off x="8641080" y="29535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Side-by-side comparison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8641080" y="321868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how each algorithm recommends for the same user — the trade-off made tangible.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8412480" y="3803904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63" name="Text 61"/>
          <p:cNvSpPr/>
          <p:nvPr/>
        </p:nvSpPr>
        <p:spPr>
          <a:xfrm>
            <a:off x="8641080" y="37581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Taste profile + "more like this"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8641080" y="4023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Top-rated movies, favourite-genre chart, and content-based similar-movie search.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8412480" y="4608576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66" name="Text 64"/>
          <p:cNvSpPr/>
          <p:nvPr/>
        </p:nvSpPr>
        <p:spPr>
          <a:xfrm>
            <a:off x="8641080" y="45628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&amp; cached</a:t>
            </a:r>
            <a:endParaRPr lang="en-US" sz="1250" dirty="0"/>
          </a:p>
        </p:txBody>
      </p:sp>
      <p:sp>
        <p:nvSpPr>
          <p:cNvPr id="67" name="Text 65"/>
          <p:cNvSpPr/>
          <p:nvPr/>
        </p:nvSpPr>
        <p:spPr>
          <a:xfrm>
            <a:off x="8641080" y="482803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train once; switching user, method or answers is instant.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Recommender Systems · Individual Project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challenges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32688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hard, and how it was solved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778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373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&amp; speed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2212848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32M ratings (877 MB) made naive CF/MF infeasible. Solved with compact dtypes, item-cap + k-core filtering, user sub-sampling and vectorized, cached NumPy scoring.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554480"/>
            <a:ext cx="55778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373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Course-aligned MF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83680" y="2212848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Followed the course method: sklearn TruncatedSVD on the sparse matrix, dot-product scores, argsort top-N — no fragile native dependencies.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520440"/>
            <a:ext cx="55778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37033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 evaluation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4178808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users break personalized models. A per-user split guarantees overlap; identical user sample &amp; relevance rule for all models.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09360" y="3520440"/>
            <a:ext cx="55778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83680" y="37033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accuracy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83680" y="4178808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alone hides popularity bias. Added coverage &amp; novelty to expose the trade-off.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Recommender Systems · Individual Project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the evaluation honest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32688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Weaknesses we found by self-critique — and how we fixed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6492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60934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split leaked the future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11880" y="1773936"/>
            <a:ext cx="219456" cy="219456"/>
          </a:xfrm>
          <a:prstGeom prst="ellipse">
            <a:avLst/>
          </a:prstGeom>
          <a:solidFill>
            <a:srgbClr val="2C9C7F"/>
          </a:solidFill>
          <a:ln/>
        </p:spPr>
      </p:sp>
      <p:sp>
        <p:nvSpPr>
          <p:cNvPr id="7" name="Text 5"/>
          <p:cNvSpPr/>
          <p:nvPr/>
        </p:nvSpPr>
        <p:spPr>
          <a:xfrm>
            <a:off x="3611880" y="173736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1609344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split → NDCG 0.33 → 0.12 (realistic)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22576"/>
            <a:ext cx="6492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23774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point estimate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611880" y="2542032"/>
            <a:ext cx="219456" cy="219456"/>
          </a:xfrm>
          <a:prstGeom prst="ellipse">
            <a:avLst/>
          </a:prstGeom>
          <a:solidFill>
            <a:srgbClr val="2C9C7F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250545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931920" y="2377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confidence intervals → SVD's lead is significant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090672"/>
            <a:ext cx="6492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85800" y="3145536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Popularity bias was hidden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611880" y="3310128"/>
            <a:ext cx="219456" cy="219456"/>
          </a:xfrm>
          <a:prstGeom prst="ellipse">
            <a:avLst/>
          </a:prstGeom>
          <a:solidFill>
            <a:srgbClr val="2C9C7F"/>
          </a:solidFill>
          <a:ln/>
        </p:spPr>
      </p:sp>
      <p:sp>
        <p:nvSpPr>
          <p:cNvPr id="17" name="Text 15"/>
          <p:cNvSpPr/>
          <p:nvPr/>
        </p:nvSpPr>
        <p:spPr>
          <a:xfrm>
            <a:off x="3611880" y="327355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931920" y="314553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Long-tail analysis → SVD ~1% tail vs 49% item-CF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58768"/>
            <a:ext cx="6492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" y="391363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support for brand-new users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11880" y="4078224"/>
            <a:ext cx="219456" cy="219456"/>
          </a:xfrm>
          <a:prstGeom prst="ellipse">
            <a:avLst/>
          </a:prstGeom>
          <a:solidFill>
            <a:srgbClr val="2C9C7F"/>
          </a:solidFill>
          <a:ln/>
        </p:spPr>
      </p:sp>
      <p:sp>
        <p:nvSpPr>
          <p:cNvPr id="22" name="Text 20"/>
          <p:cNvSpPr/>
          <p:nvPr/>
        </p:nvSpPr>
        <p:spPr>
          <a:xfrm>
            <a:off x="3611880" y="404164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931920" y="391363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Questionnaire onboarding → cold-start solved in the app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626864"/>
            <a:ext cx="6492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85800" y="4681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imputes missing ratings as 0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3611880" y="4846320"/>
            <a:ext cx="219456" cy="219456"/>
          </a:xfrm>
          <a:prstGeom prst="ellipse">
            <a:avLst/>
          </a:prstGeom>
          <a:solidFill>
            <a:srgbClr val="2C9C7F"/>
          </a:solidFill>
          <a:ln/>
        </p:spPr>
      </p:sp>
      <p:sp>
        <p:nvSpPr>
          <p:cNvPr id="27" name="Text 25"/>
          <p:cNvSpPr/>
          <p:nvPr/>
        </p:nvSpPr>
        <p:spPr>
          <a:xfrm>
            <a:off x="3611880" y="480974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931920" y="468172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as a known explicit-feedback trade-off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223760" y="1554480"/>
            <a:ext cx="4480560" cy="3822192"/>
          </a:xfrm>
          <a:prstGeom prst="roundRect">
            <a:avLst>
              <a:gd name="adj" fmla="val 1914"/>
            </a:avLst>
          </a:prstGeom>
          <a:solidFill>
            <a:srgbClr val="F4F6FB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406640" y="16916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recommends beyond the popular head?</a:t>
            </a:r>
            <a:endParaRPr lang="en-US" sz="1350" dirty="0"/>
          </a:p>
        </p:txBody>
      </p:sp>
      <p:pic>
        <p:nvPicPr>
          <p:cNvPr id="31" name="Image 0" descr="fig/popularity_bi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2240280"/>
            <a:ext cx="4206240" cy="2423160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7406640" y="4709160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Long-tail share of each model's top-10. The SVD "winner" stays on the head; CF and content-based reach the tail.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Recommender Systems · Individual Project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Threats to validity &amp;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32688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numbers do — and don't — show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F4F6FB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Threats to validity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Leakage: fixed with a temporal split (SVD NDCG 0.33→0.12)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Significance: 95% CIs reported — top ranking is real, not noise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Popularity bias: SVD puts only ~1% of recs in the long tail (vs 48% item-CF)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popular subset → optimistic; not vs. published benchmarks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imputes missing = 0; no true cold-start eval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55448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9C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92240" y="21945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Richer content features (tags, cast, synopsis), not just genres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Hybrid: blend SVD accuracy with content/CF novelty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diversity &amp; popularity-debiasing in the ranking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proper cold-start (new user / new item) evaluation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1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Streamlit demo online (already built — see UX slide)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Recommender Systems · Individual Project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931920"/>
            <a:ext cx="5486400" cy="5486400"/>
          </a:xfrm>
          <a:prstGeom prst="ellipse">
            <a:avLst/>
          </a:prstGeom>
          <a:solidFill>
            <a:srgbClr val="21294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remarks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63040" y="16002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universal best model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463040" y="20574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choice depends on the objective — engagement, discovery or coverage.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9718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63040" y="29260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 is not enough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463040" y="338328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accurate model (popularity) is also the least useful for discovery.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429768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63040" y="425196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Personalization adds value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463040" y="470916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 and CF surface relevant, novel items a popularity list never would.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715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 welcome.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Recommender Systems — Individual Project</dc:title>
  <dc:subject>PptxGenJS Presentation</dc:subject>
  <dc:creator>Francesco Polimeni</dc:creator>
  <cp:lastModifiedBy>Francesco Polimeni</cp:lastModifiedBy>
  <cp:revision>1</cp:revision>
  <dcterms:created xsi:type="dcterms:W3CDTF">2026-06-30T19:33:44Z</dcterms:created>
  <dcterms:modified xsi:type="dcterms:W3CDTF">2026-06-30T19:33:44Z</dcterms:modified>
</cp:coreProperties>
</file>